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6"/>
  </p:notesMasterIdLst>
  <p:sldIdLst>
    <p:sldId id="273" r:id="rId2"/>
    <p:sldId id="291" r:id="rId3"/>
    <p:sldId id="258" r:id="rId4"/>
    <p:sldId id="259" r:id="rId5"/>
    <p:sldId id="284" r:id="rId6"/>
    <p:sldId id="276" r:id="rId7"/>
    <p:sldId id="280" r:id="rId8"/>
    <p:sldId id="282" r:id="rId9"/>
    <p:sldId id="274" r:id="rId10"/>
    <p:sldId id="285" r:id="rId11"/>
    <p:sldId id="278" r:id="rId12"/>
    <p:sldId id="263" r:id="rId13"/>
    <p:sldId id="262" r:id="rId14"/>
    <p:sldId id="265" r:id="rId15"/>
    <p:sldId id="286" r:id="rId16"/>
    <p:sldId id="287" r:id="rId17"/>
    <p:sldId id="279" r:id="rId18"/>
    <p:sldId id="267" r:id="rId19"/>
    <p:sldId id="277" r:id="rId20"/>
    <p:sldId id="288" r:id="rId21"/>
    <p:sldId id="289" r:id="rId22"/>
    <p:sldId id="290" r:id="rId23"/>
    <p:sldId id="275" r:id="rId24"/>
    <p:sldId id="28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3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EC7DE7-51F1-4A30-B79F-1615DB84B75D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D021D-A529-4D9C-9636-72BB15066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294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D021D-A529-4D9C-9636-72BB150660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8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109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1506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74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326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57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40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19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780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23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64670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8207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943914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1813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474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762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BBBC4A-9838-421D-8297-B4D0C61DFEF5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E7C3B71F-533B-44C5-B212-E34C8E441C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953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B6987-92A7-056B-F28C-D1577DD93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1227132"/>
            <a:ext cx="10515600" cy="1135826"/>
          </a:xfrm>
        </p:spPr>
        <p:txBody>
          <a:bodyPr>
            <a:noAutofit/>
          </a:bodyPr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ENGINEERING, MODELING, ELECTRONICS AND SYSTEM ENGINEERING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LM-Telecommunication Engineering: Smart Sensing, Computing and Networking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 Security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Title: IoT Sensor Data Monitoring System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5A44C-E0A7-A53E-E13A-C8251F340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41132"/>
            <a:ext cx="10515600" cy="1231273"/>
          </a:xfrm>
        </p:spPr>
        <p:txBody>
          <a:bodyPr/>
          <a:lstStyle/>
          <a:p>
            <a:pPr marL="0" indent="0">
              <a:spcBef>
                <a:spcPts val="300"/>
              </a:spcBef>
              <a:buNone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</a:t>
            </a:r>
            <a:r>
              <a:rPr lang="en-U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Implemented by: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Rami Saleh                                 Hussein Mohammed</a:t>
            </a:r>
            <a:endParaRPr lang="en-US" sz="2400" dirty="0">
              <a:solidFill>
                <a:schemeClr val="accent1"/>
              </a:solidFill>
            </a:endParaRP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6788D9-513C-41B0-46EA-BCC7E710D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3"/>
            <a:ext cx="2451798" cy="122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658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BF333-B010-EA06-7968-E658B7A61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04" y="156238"/>
            <a:ext cx="11271564" cy="939231"/>
          </a:xfrm>
        </p:spPr>
        <p:txBody>
          <a:bodyPr/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2D2AFF-7F58-DA5B-E543-F576DAE6F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04" y="1095470"/>
            <a:ext cx="11271564" cy="5606292"/>
          </a:xfrm>
        </p:spPr>
        <p:txBody>
          <a:bodyPr/>
          <a:lstStyle/>
          <a:p>
            <a:pPr marL="0" indent="0">
              <a:buNone/>
            </a:pPr>
            <a:r>
              <a:rPr lang="en-US" sz="18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of the project: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8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an IoT-based sensor data monitoring system that: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Collects data from MQ2 (gas sensor) and DHT11 (temperature &amp; humidity sensor) using an ESP32 microcontroller.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Sends the data to a Flask server for processing and storage.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verifies data integrity and authenticity using HMAC-SHA256.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ensures system availability against DOS attack.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Stores data in a MySQL database.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Publishes real-time data to HiveMQ Cloud (MQTT broker).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data values in Node-Red dashboard.</a:t>
            </a:r>
          </a:p>
        </p:txBody>
      </p:sp>
    </p:spTree>
    <p:extLst>
      <p:ext uri="{BB962C8B-B14F-4D97-AF65-F5344CB8AC3E}">
        <p14:creationId xmlns:p14="http://schemas.microsoft.com/office/powerpoint/2010/main" val="1421831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FFC3-A3D8-0B45-780F-9F441756D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002"/>
            <a:ext cx="10515600" cy="72432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190444-C7E7-A352-0750-00A0225E96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8650" y="1107557"/>
            <a:ext cx="8754700" cy="5403427"/>
          </a:xfr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58BCE09-EAA8-9ECA-9547-245DEE7CA8F4}"/>
              </a:ext>
            </a:extLst>
          </p:cNvPr>
          <p:cNvCxnSpPr>
            <a:cxnSpLocks/>
          </p:cNvCxnSpPr>
          <p:nvPr/>
        </p:nvCxnSpPr>
        <p:spPr>
          <a:xfrm flipV="1">
            <a:off x="5984341" y="2877550"/>
            <a:ext cx="989195" cy="683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12DEC5-68BC-3CBC-3F61-33574C712FB1}"/>
              </a:ext>
            </a:extLst>
          </p:cNvPr>
          <p:cNvCxnSpPr>
            <a:cxnSpLocks/>
          </p:cNvCxnSpPr>
          <p:nvPr/>
        </p:nvCxnSpPr>
        <p:spPr>
          <a:xfrm>
            <a:off x="5900711" y="2507197"/>
            <a:ext cx="10728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3B10ED8-9EA9-A219-5E56-7F3C9F27800D}"/>
              </a:ext>
            </a:extLst>
          </p:cNvPr>
          <p:cNvSpPr txBox="1"/>
          <p:nvPr/>
        </p:nvSpPr>
        <p:spPr>
          <a:xfrm>
            <a:off x="5395865" y="2034770"/>
            <a:ext cx="1659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150" dirty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Injection attack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F05EC4-B874-D102-D2E1-CAB29FFC46D8}"/>
              </a:ext>
            </a:extLst>
          </p:cNvPr>
          <p:cNvSpPr txBox="1"/>
          <p:nvPr/>
        </p:nvSpPr>
        <p:spPr>
          <a:xfrm>
            <a:off x="6113957" y="25307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83015B-C4BB-5745-A77C-C9E606C45D47}"/>
              </a:ext>
            </a:extLst>
          </p:cNvPr>
          <p:cNvSpPr txBox="1"/>
          <p:nvPr/>
        </p:nvSpPr>
        <p:spPr>
          <a:xfrm>
            <a:off x="3309774" y="4239955"/>
            <a:ext cx="82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ESP32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C96B13-18F1-F62A-C1F4-A5C98039BC93}"/>
              </a:ext>
            </a:extLst>
          </p:cNvPr>
          <p:cNvSpPr txBox="1"/>
          <p:nvPr/>
        </p:nvSpPr>
        <p:spPr>
          <a:xfrm>
            <a:off x="8564578" y="4970352"/>
            <a:ext cx="12756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Base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665E9A-237A-49B3-DA3D-4C7CB26EC4F0}"/>
              </a:ext>
            </a:extLst>
          </p:cNvPr>
          <p:cNvSpPr txBox="1"/>
          <p:nvPr/>
        </p:nvSpPr>
        <p:spPr>
          <a:xfrm>
            <a:off x="8298928" y="2126900"/>
            <a:ext cx="1806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 Server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C6AF21-0892-BF1F-E52B-11B755D9069B}"/>
              </a:ext>
            </a:extLst>
          </p:cNvPr>
          <p:cNvSpPr txBox="1"/>
          <p:nvPr/>
        </p:nvSpPr>
        <p:spPr>
          <a:xfrm>
            <a:off x="1634369" y="2137865"/>
            <a:ext cx="2509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DHT11 &amp; MQ-2 Sensors</a:t>
            </a:r>
          </a:p>
        </p:txBody>
      </p:sp>
    </p:spTree>
    <p:extLst>
      <p:ext uri="{BB962C8B-B14F-4D97-AF65-F5344CB8AC3E}">
        <p14:creationId xmlns:p14="http://schemas.microsoft.com/office/powerpoint/2010/main" val="3744593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283C7E-5E98-EDD0-530C-D95E50564F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283" y="130269"/>
            <a:ext cx="11688024" cy="756971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86AE8-7E03-A4DA-C3F1-265E17BE1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283" y="887240"/>
            <a:ext cx="11688024" cy="5767057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 Layer: ESP32 + Sensors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Layer: Flask server with security measures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Layer: MySQL database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Layer: Node-RED dashboard, which provide Real-time Monitoring Features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759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3A544-9285-9E75-6022-796CA57BD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2550" y="102576"/>
            <a:ext cx="11588436" cy="1065322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Data flow in Normal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E4AE2-BD97-0E67-5664-9C87F6CA21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2550" y="1167898"/>
            <a:ext cx="11588436" cy="5587526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collects sensor readings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Transmitted via HTTP to Flask server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receives the data and store it in MySQL database 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forwarded to Node-Red via MQTT Protocol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visualization on Node-Red dashboard 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6361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A833-5798-D73F-C2FD-2BC8AC4F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90" y="18594"/>
            <a:ext cx="11630020" cy="730344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flow in Normal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E8A6E-53D4-64E3-8A6F-0CF56594E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988" y="748938"/>
            <a:ext cx="11630020" cy="5905359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 sends data to the Server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B64475C-EE2A-4133-3C1D-9359CFC72F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88" y="1247774"/>
            <a:ext cx="11630020" cy="5406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21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FD453-D8E8-6409-09CE-8C27D55B4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33" y="84467"/>
            <a:ext cx="11947931" cy="920467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Data flow in Normal 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591C-C2E4-287B-6480-3010B1C7A4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034" y="1004934"/>
            <a:ext cx="11947931" cy="562220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Flask server after receiving the data from the ESP32 stores it in data base and sends it to the Nod-Red via MQTT protocol.</a:t>
            </a:r>
          </a:p>
        </p:txBody>
      </p:sp>
      <p:pic>
        <p:nvPicPr>
          <p:cNvPr id="7" name="Picture 6" descr="A screenshot of a device&#10;&#10;AI-generated content may be incorrect.">
            <a:extLst>
              <a:ext uri="{FF2B5EF4-FFF2-40B4-BE49-F238E27FC236}">
                <a16:creationId xmlns:a16="http://schemas.microsoft.com/office/drawing/2014/main" id="{02BE680D-888D-938F-AA19-E5AB161955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055" y="1925401"/>
            <a:ext cx="2747909" cy="4701736"/>
          </a:xfrm>
          <a:prstGeom prst="rect">
            <a:avLst/>
          </a:prstGeom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0429062-7931-5283-DEF2-D3DBCC0712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33" y="1925401"/>
            <a:ext cx="9200022" cy="470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012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3E924-D120-77DC-7BEF-548FC5F48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781" y="102575"/>
            <a:ext cx="11262510" cy="983842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attack &amp; defense -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9D806B-C86E-ABB5-E921-5D219A6B5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781" y="1086417"/>
            <a:ext cx="11262510" cy="5595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scenarios :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1 – simulate a DOS attack on the server &amp; implement a defense mechanism.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2 – simulate a </a:t>
            </a:r>
            <a:r>
              <a:rPr lang="en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Injection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attack &amp; implement a defense mechanism.</a:t>
            </a:r>
          </a:p>
        </p:txBody>
      </p:sp>
    </p:spTree>
    <p:extLst>
      <p:ext uri="{BB962C8B-B14F-4D97-AF65-F5344CB8AC3E}">
        <p14:creationId xmlns:p14="http://schemas.microsoft.com/office/powerpoint/2010/main" val="6561293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0BD73-BCB5-84ED-723E-C828F2F7B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299" y="120683"/>
            <a:ext cx="10964501" cy="679418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4575E-68AF-B6B6-6137-47205AD0CC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9299" y="1195056"/>
            <a:ext cx="10964501" cy="546829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1 : simulate a DOS attack on the server &amp; implement a defense mechanism.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DOS attack : floods a Flask server with excessive traffic , overwhelming its resources and making it unavailable to legitimate users (which is ESP32 in this case).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and this causing :</a:t>
            </a: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crashes (HTTP timeouts).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overload (MySQL slowdowns).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Blocked legitimate sensors data.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0742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24778-7203-DAFE-2110-B9C9D485D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603" y="156895"/>
            <a:ext cx="11669917" cy="763573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1 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EA5E23-2AE0-340C-CEBB-7A0F1ECE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603" y="1077362"/>
            <a:ext cx="11669917" cy="5623743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the attack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997BC3-9D8B-3D51-82A4-5E64348053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69" y="1448553"/>
            <a:ext cx="11669916" cy="5252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0815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B8907-06DB-2BAB-8D20-F53900088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988" y="119916"/>
            <a:ext cx="11753850" cy="776378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41958-73B8-7BA3-0F0F-E3AEA567E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162" y="1133475"/>
            <a:ext cx="11877676" cy="5509360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values which sent from the server during the beginning of the DOS attack</a:t>
            </a:r>
          </a:p>
        </p:txBody>
      </p:sp>
      <p:pic>
        <p:nvPicPr>
          <p:cNvPr id="6" name="Picture 5" descr="A group of rectangular objects with text&#10;&#10;AI-generated content may be incorrect.">
            <a:extLst>
              <a:ext uri="{FF2B5EF4-FFF2-40B4-BE49-F238E27FC236}">
                <a16:creationId xmlns:a16="http://schemas.microsoft.com/office/drawing/2014/main" id="{AE1C37AC-D754-1893-96E6-F04AEACE8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88" y="2796953"/>
            <a:ext cx="11753850" cy="3845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1833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5FD76-8695-A9F9-D9A2-0B82ECD8D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78" y="121215"/>
            <a:ext cx="11398312" cy="811292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434D6-93BF-666D-437B-7FE979542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77" y="932507"/>
            <a:ext cx="11398313" cy="561314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available options :</a:t>
            </a:r>
          </a:p>
          <a:p>
            <a:pPr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Rate Limiting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Limits requests per IP address(e.g. 10 requests/minute)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Prevents server resource exhaustion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Firewall Rules (iptables/ UFW)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suspicious IP addresses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 malicious traffic patterns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53313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2248-9CDE-6B48-B6D5-172FA25B33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926" y="113848"/>
            <a:ext cx="11858624" cy="791499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1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0BB68-1657-BE7A-8C62-FC46B1F2E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6" y="1032097"/>
            <a:ext cx="11858624" cy="5712056"/>
          </a:xfrm>
        </p:spPr>
        <p:txBody>
          <a:bodyPr>
            <a:normAutofit/>
          </a:bodyPr>
          <a:lstStyle/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scenario 1 : the Firewall Rules (iptables/ UFW) was used</a:t>
            </a:r>
          </a:p>
          <a:p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Defense 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Blocking suspicious or unknow IP addresses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330DA06-8CE0-EA57-415E-10DAE245BE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96" y="1762125"/>
            <a:ext cx="11776577" cy="477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0005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A468A-97B1-96A0-132E-F9665716A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711" y="129736"/>
            <a:ext cx="11624649" cy="721290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C5FD9-3768-899D-11BE-D56B65BA00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711" y="851026"/>
            <a:ext cx="11624649" cy="5877238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simulate a </a:t>
            </a:r>
            <a:r>
              <a:rPr lang="en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attack &amp; implement a defense mechanism.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1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Injection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is when an attacker </a:t>
            </a:r>
            <a:r>
              <a:rPr lang="en-150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 data to the server , (e.g.in this case sending incorrect temperature or gas values after modifying it {"gas": 450} → {"gas": 0}    // Fake "safe" reading)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and this causing : 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Trigger false alarms.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Hide critical events (e.g., gas values leaks).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Corrupts database entries, misleads Node-RED dashboards, and compromises safety.</a:t>
            </a:r>
          </a:p>
          <a:p>
            <a:pPr marL="800100" lvl="1" indent="-342900">
              <a:buFont typeface="+mj-lt"/>
              <a:buAutoNum type="arabicPeriod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Manipulate analytics.</a:t>
            </a:r>
          </a:p>
          <a:p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090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9517E-9887-DF82-8071-221D1FF40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230" y="102575"/>
            <a:ext cx="11841932" cy="848039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196FDA-A687-FDB9-032F-39B3BA63FE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230" y="950614"/>
            <a:ext cx="11841932" cy="5804811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the packet which sent from the ESP32 to the server by using Wireshark and knowing the format of the data.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FBFBEF-23A6-C4A4-20BE-2FEE5D6057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230" y="1447800"/>
            <a:ext cx="11841932" cy="530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197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37FA3-AC44-014C-E671-ACF12E33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390" y="92365"/>
            <a:ext cx="11787612" cy="885409"/>
          </a:xfrm>
        </p:spPr>
        <p:txBody>
          <a:bodyPr>
            <a:normAutofit/>
          </a:bodyPr>
          <a:lstStyle/>
          <a:p>
            <a:r>
              <a:rPr lang="en-US" sz="3600" dirty="0"/>
              <a:t>                   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6BD32C-5CC5-D7D2-360A-BFA37735A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390" y="977774"/>
            <a:ext cx="11787612" cy="5787861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sending incorrect temperature &amp; gas values to the server</a:t>
            </a:r>
            <a:r>
              <a:rPr lang="en-150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same format of the correct packet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F3F6D2-AB16-8CE9-79D7-58926B428C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90" y="1333499"/>
            <a:ext cx="11787612" cy="543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9460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4814F-B7B7-B4FB-23A7-8580E56D1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425" y="18256"/>
            <a:ext cx="11353800" cy="931534"/>
          </a:xfrm>
        </p:spPr>
        <p:txBody>
          <a:bodyPr>
            <a:normAutofit/>
          </a:bodyPr>
          <a:lstStyle/>
          <a:p>
            <a:r>
              <a:rPr lang="en-US" dirty="0"/>
              <a:t>                     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FCF75-AA39-84C1-4281-E8B697B539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949790"/>
            <a:ext cx="11634786" cy="5695454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server receives the incorrect data and then sends it to the Node-Red </a:t>
            </a:r>
          </a:p>
        </p:txBody>
      </p:sp>
      <p:pic>
        <p:nvPicPr>
          <p:cNvPr id="6" name="Picture 5" descr="A group of colorful rectangular objects&#10;&#10;AI-generated content may be incorrect.">
            <a:extLst>
              <a:ext uri="{FF2B5EF4-FFF2-40B4-BE49-F238E27FC236}">
                <a16:creationId xmlns:a16="http://schemas.microsoft.com/office/drawing/2014/main" id="{E420BCB8-1A6D-57EE-56EC-51A6E5769E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697" y="1557197"/>
            <a:ext cx="11708605" cy="392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8065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82967-2468-0B9B-711F-3EB0B160AD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123" y="138789"/>
            <a:ext cx="11841931" cy="802772"/>
          </a:xfrm>
        </p:spPr>
        <p:txBody>
          <a:bodyPr>
            <a:normAutofit/>
          </a:bodyPr>
          <a:lstStyle/>
          <a:p>
            <a:r>
              <a:rPr lang="en-US" sz="3200" dirty="0"/>
              <a:t>                     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11C85-BD20-DA41-4FA3-B0371A141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123" y="1104523"/>
            <a:ext cx="11841931" cy="54139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available options : </a:t>
            </a: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 HMAC-SHA256 </a:t>
            </a:r>
            <a:r>
              <a:rPr lang="en-US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(Hash-based Message Authentication Code using SHA-256)</a:t>
            </a: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a cryptographic mechanism that combines a secret key with a message and applies the SHA-256 hashing algorithm to produce a fixed-size output.</a:t>
            </a: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 provides both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integrity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authentication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by ensuring that the message was generated by someone who knows the shared secret key.</a:t>
            </a:r>
          </a:p>
          <a:p>
            <a:pPr marL="0" indent="0">
              <a:buNone/>
            </a:pPr>
            <a:endParaRPr lang="en-US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Firewall Rules (iptables/UFW)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Blocks suspicious IP addresses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 malicious traffic patterns</a:t>
            </a: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475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4D7BD-AA54-0F9A-7C2A-6D7671D3F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406" y="15563"/>
            <a:ext cx="11633703" cy="654393"/>
          </a:xfrm>
        </p:spPr>
        <p:txBody>
          <a:bodyPr>
            <a:normAutofit/>
          </a:bodyPr>
          <a:lstStyle/>
          <a:p>
            <a:r>
              <a:rPr lang="en-US" sz="3200" dirty="0"/>
              <a:t>                    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97D90-7A89-F4BC-9740-C0F10240E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390" y="669957"/>
            <a:ext cx="11805719" cy="6029606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scenario 2 : HMAC-SHA256 was used</a:t>
            </a:r>
          </a:p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ESP32: Sends a JSON payload that includes Data + Hash computed as SHA256(“Gas value, Humidity, Temperature" + secret key)</a:t>
            </a:r>
          </a:p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so, the ESP32 computes a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SHA256 hash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 data string concatenated with a secret key and then sending it to the server.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E00306-F783-CDD4-C5DA-A084362FDD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89" y="2076450"/>
            <a:ext cx="11805719" cy="4623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56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8DBA2-BC78-C42F-5989-893BE3B7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925" y="84469"/>
            <a:ext cx="11651810" cy="612648"/>
          </a:xfrm>
        </p:spPr>
        <p:txBody>
          <a:bodyPr>
            <a:normAutofit/>
          </a:bodyPr>
          <a:lstStyle/>
          <a:p>
            <a:r>
              <a:rPr lang="en-US" sz="3200" dirty="0"/>
              <a:t>                         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attack &amp; defense – scenario 2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95946-399A-6EFA-AE79-63872CE9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5925" y="697117"/>
            <a:ext cx="11651810" cy="60764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Wireshark , after capture the payload: 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if the hash and the data are visible (because it is not encrypted), and the attacker</a:t>
            </a:r>
            <a:r>
              <a:rPr lang="en-150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try to </a:t>
            </a:r>
            <a:r>
              <a:rPr lang="en-150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send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150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incorrect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values, they can't compute a valid hash ( without knowing the secret key), and the server will reject the request.</a:t>
            </a:r>
          </a:p>
          <a:p>
            <a:pPr lvl="1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is a lightweight and effective way to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authenticate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data from ESP32 to the server. </a:t>
            </a:r>
          </a:p>
          <a:p>
            <a:endParaRPr lang="en-US" sz="1600" dirty="0"/>
          </a:p>
          <a:p>
            <a:endParaRPr lang="en-US" sz="160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B34A1A-80E4-4EA9-E88B-169054AAE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5208" y="2055137"/>
            <a:ext cx="9581584" cy="4718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496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B6DC8-F868-3528-D103-8D24D9BC8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639" y="84469"/>
            <a:ext cx="11631855" cy="594541"/>
          </a:xfrm>
        </p:spPr>
        <p:txBody>
          <a:bodyPr>
            <a:normAutofit fontScale="90000"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attack &amp; defense – scenario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69E02-CA27-40EB-8EC4-4BFFA6CA1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2504" y="679010"/>
            <a:ext cx="11631856" cy="6094521"/>
          </a:xfrm>
        </p:spPr>
        <p:txBody>
          <a:bodyPr>
            <a:normAutofit/>
          </a:bodyPr>
          <a:lstStyle/>
          <a:p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: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will extract the JSON payload and recompute the hash from data + secret in the same way.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verify the hash sent by the ESP32 by comparing it with its own locally computed hash.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they match → data is accepted, and then send it to the Node-Red.</a:t>
            </a:r>
          </a:p>
          <a:p>
            <a:endParaRPr lang="en-US" sz="1800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8B0E1F0-5973-80D2-9BB0-ECD01C433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38" y="2218099"/>
            <a:ext cx="11631856" cy="4555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76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D6D94-0B51-80C5-9887-0D678EB9E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27" y="120682"/>
            <a:ext cx="11253457" cy="92046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attack &amp; defense – scenario 2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751FE-F440-7F7E-1D6B-10516E9D0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727" y="1041150"/>
            <a:ext cx="11190083" cy="56961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So, using HMAC-SHA256 provides :</a:t>
            </a: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1- </a:t>
            </a:r>
            <a:r>
              <a:rPr lang="en-US" sz="18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Integrity 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hash ensures that the data hasn't been modified in transit. If even a single bit changes in Gas value, humidity, or temperature, the hash won't match.</a:t>
            </a: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– </a:t>
            </a:r>
            <a:r>
              <a:rPr lang="en-US" sz="18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Authenticity :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including a secret key in the hash that only the ESP32 and server know, it proves that the data came from a trusted source (the ESP32).An attacker who doesn't know the secret can't forge a valid hash even if they know the data format.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171048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413D4-7704-3066-5431-C5044DB7E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734"/>
            <a:ext cx="10759288" cy="91141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8150F-01BC-7637-C413-E46590F322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041148"/>
            <a:ext cx="10759289" cy="5622201"/>
          </a:xfrm>
        </p:spPr>
        <p:txBody>
          <a:bodyPr>
            <a:normAutofit/>
          </a:bodyPr>
          <a:lstStyle/>
          <a:p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a secure IoT sensor data monitoring system. </a:t>
            </a:r>
          </a:p>
          <a:p>
            <a:pPr>
              <a:buFont typeface="+mj-lt"/>
              <a:buAutoNum type="arabicPeriod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defends against </a:t>
            </a:r>
            <a:r>
              <a:rPr lang="en-150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injection attack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HMAC-SHA256 to ensure data integrity and authenticity, while firewall rules defend against DoS attacks. 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 Flask server verifies hashes using a shared secret.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monitoring is achieved through MQTT and Node-RED </a:t>
            </a:r>
          </a:p>
          <a:p>
            <a:pPr>
              <a:buFont typeface="+mj-lt"/>
              <a:buAutoNum type="arabicPeriod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+mj-lt"/>
              <a:buAutoNum type="arabicPeriod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architecture showcases a practical and effective approach to IoT security.</a:t>
            </a:r>
          </a:p>
        </p:txBody>
      </p:sp>
    </p:spTree>
    <p:extLst>
      <p:ext uri="{BB962C8B-B14F-4D97-AF65-F5344CB8AC3E}">
        <p14:creationId xmlns:p14="http://schemas.microsoft.com/office/powerpoint/2010/main" val="127980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07D0C-0432-1B51-659F-587FF91F4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49" y="161925"/>
            <a:ext cx="11820525" cy="6591300"/>
          </a:xfrm>
        </p:spPr>
        <p:txBody>
          <a:bodyPr/>
          <a:lstStyle/>
          <a:p>
            <a:r>
              <a:rPr lang="en-US" dirty="0"/>
              <a:t>                          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very much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630410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2987</TotalTime>
  <Words>1133</Words>
  <Application>Microsoft Office PowerPoint</Application>
  <PresentationFormat>Widescreen</PresentationFormat>
  <Paragraphs>148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Arial</vt:lpstr>
      <vt:lpstr>Times New Roman</vt:lpstr>
      <vt:lpstr>Trebuchet MS</vt:lpstr>
      <vt:lpstr>Wingdings 3</vt:lpstr>
      <vt:lpstr>Facet</vt:lpstr>
      <vt:lpstr>DEPARTMENT OF COMPUTER ENGINEERING, MODELING, ELECTRONICS AND SYSTEM ENGINEERING   LM-Telecommunication Engineering: Smart Sensing, Computing and Networking  IoT Security Project Title: IoT Sensor Data Monitoring System</vt:lpstr>
      <vt:lpstr>                                      Introduction </vt:lpstr>
      <vt:lpstr>                           System Architecture </vt:lpstr>
      <vt:lpstr>                               System Architecture</vt:lpstr>
      <vt:lpstr>                      Data flow in Normal scenario</vt:lpstr>
      <vt:lpstr>                    Data flow in Normal scenario</vt:lpstr>
      <vt:lpstr>                         Data flow in Normal scenario</vt:lpstr>
      <vt:lpstr>                     attack &amp; defense - scenarios</vt:lpstr>
      <vt:lpstr>                    attack &amp; defense – scenario 1 </vt:lpstr>
      <vt:lpstr>                    attack &amp; defense – scenario 1 </vt:lpstr>
      <vt:lpstr>                 attack &amp; defense – scenario 1 </vt:lpstr>
      <vt:lpstr>                    attack &amp; defense – scenario 1 </vt:lpstr>
      <vt:lpstr>                    attack &amp; defense – scenario 1 </vt:lpstr>
      <vt:lpstr>                   attack &amp; defense – scenario 2</vt:lpstr>
      <vt:lpstr>                      attack &amp; defense – scenario 2</vt:lpstr>
      <vt:lpstr>                    attack &amp; defense – scenario 2</vt:lpstr>
      <vt:lpstr>                      attack &amp; defense – scenario 2</vt:lpstr>
      <vt:lpstr>                         attack &amp; defense – scenario 2</vt:lpstr>
      <vt:lpstr>                        attack &amp; defense – scenario 2</vt:lpstr>
      <vt:lpstr>                          attack &amp; defense – scenario 2</vt:lpstr>
      <vt:lpstr>                              attack &amp; defense – scenario 2</vt:lpstr>
      <vt:lpstr>                    attack &amp; defense – scenario 2</vt:lpstr>
      <vt:lpstr>                                   Conclusion</vt:lpstr>
      <vt:lpstr>                                                     Thank you very much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Hussin Mohammed</dc:creator>
  <cp:lastModifiedBy>RAMI SALEH</cp:lastModifiedBy>
  <cp:revision>33</cp:revision>
  <dcterms:created xsi:type="dcterms:W3CDTF">2025-04-25T21:10:24Z</dcterms:created>
  <dcterms:modified xsi:type="dcterms:W3CDTF">2026-01-31T16:57:08Z</dcterms:modified>
</cp:coreProperties>
</file>